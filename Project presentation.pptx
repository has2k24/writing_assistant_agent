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3" r:id="rId7"/>
    <p:sldId id="264" r:id="rId8"/>
    <p:sldId id="265" r:id="rId9"/>
    <p:sldId id="272" r:id="rId10"/>
    <p:sldId id="276" r:id="rId11"/>
    <p:sldId id="277" r:id="rId12"/>
    <p:sldId id="278" r:id="rId13"/>
    <p:sldId id="279" r:id="rId14"/>
    <p:sldId id="273" r:id="rId15"/>
    <p:sldId id="275" r:id="rId16"/>
    <p:sldId id="266" r:id="rId17"/>
    <p:sldId id="267" r:id="rId18"/>
    <p:sldId id="269" r:id="rId19"/>
    <p:sldId id="270" r:id="rId20"/>
    <p:sldId id="271"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9" d="100"/>
          <a:sy n="79" d="100"/>
        </p:scale>
        <p:origin x="821"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 Hamsadhwani" userId="9aa35f003ea2a04e" providerId="LiveId" clId="{846950E3-CA8F-4DB1-90BD-2D196963AE57}"/>
    <pc:docChg chg="modSld">
      <pc:chgData name="A.S. Hamsadhwani" userId="9aa35f003ea2a04e" providerId="LiveId" clId="{846950E3-CA8F-4DB1-90BD-2D196963AE57}" dt="2026-07-12T16:50:53.815" v="4"/>
      <pc:docMkLst>
        <pc:docMk/>
      </pc:docMkLst>
      <pc:sldChg chg="modSp mod">
        <pc:chgData name="A.S. Hamsadhwani" userId="9aa35f003ea2a04e" providerId="LiveId" clId="{846950E3-CA8F-4DB1-90BD-2D196963AE57}" dt="2026-07-12T16:50:33.576" v="1" actId="20577"/>
        <pc:sldMkLst>
          <pc:docMk/>
          <pc:sldMk cId="0" sldId="256"/>
        </pc:sldMkLst>
        <pc:spChg chg="mod">
          <ac:chgData name="A.S. Hamsadhwani" userId="9aa35f003ea2a04e" providerId="LiveId" clId="{846950E3-CA8F-4DB1-90BD-2D196963AE57}" dt="2026-07-12T16:50:33.576" v="1" actId="20577"/>
          <ac:spMkLst>
            <pc:docMk/>
            <pc:sldMk cId="0" sldId="256"/>
            <ac:spMk id="79" creationId="{00000000-0000-0000-0000-000000000000}"/>
          </ac:spMkLst>
        </pc:spChg>
      </pc:sldChg>
      <pc:sldChg chg="delSp modSp mod">
        <pc:chgData name="A.S. Hamsadhwani" userId="9aa35f003ea2a04e" providerId="LiveId" clId="{846950E3-CA8F-4DB1-90BD-2D196963AE57}" dt="2026-07-12T16:50:53.815" v="4"/>
        <pc:sldMkLst>
          <pc:docMk/>
          <pc:sldMk cId="0" sldId="257"/>
        </pc:sldMkLst>
        <pc:spChg chg="del mod">
          <ac:chgData name="A.S. Hamsadhwani" userId="9aa35f003ea2a04e" providerId="LiveId" clId="{846950E3-CA8F-4DB1-90BD-2D196963AE57}" dt="2026-07-12T16:50:53.815" v="4"/>
          <ac:spMkLst>
            <pc:docMk/>
            <pc:sldMk cId="0" sldId="257"/>
            <ac:spMk id="9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371852368"/>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2000" u="none" strike="noStrike" cap="none" dirty="0"/>
                        <a:t>Student Name</a:t>
                      </a:r>
                      <a:endParaRPr sz="20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u="none" strike="noStrike" cap="none" dirty="0"/>
                        <a:t>Recent Passport Photo</a:t>
                      </a:r>
                      <a:endParaRPr sz="20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Arial"/>
                          <a:ea typeface="Arial"/>
                          <a:cs typeface="Arial"/>
                          <a:sym typeface="Arial"/>
                        </a:rPr>
                        <a:t>Email ID </a:t>
                      </a:r>
                      <a:endParaRPr sz="20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dirty="0">
                          <a:solidFill>
                            <a:srgbClr val="000000"/>
                          </a:solidFill>
                          <a:latin typeface="Arial"/>
                          <a:ea typeface="Arial"/>
                          <a:cs typeface="Arial"/>
                          <a:sym typeface="Arial"/>
                        </a:rPr>
                        <a:t>Mobile number</a:t>
                      </a:r>
                      <a:endParaRPr sz="20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dirty="0">
                          <a:solidFill>
                            <a:srgbClr val="000000"/>
                          </a:solidFill>
                          <a:latin typeface="Arial"/>
                          <a:ea typeface="Arial"/>
                          <a:cs typeface="Arial"/>
                          <a:sym typeface="Arial"/>
                        </a:rPr>
                        <a:t>[WhatsApp] </a:t>
                      </a:r>
                      <a:endParaRPr sz="20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Hamsadhwani A S</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hamsadhwanias@gmail.com</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6379412724</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Domain of  Project – </a:t>
            </a:r>
            <a:r>
              <a:rPr lang="en-US" sz="2800" b="1" i="0" u="none" strike="noStrike" cap="none" dirty="0">
                <a:solidFill>
                  <a:srgbClr val="000000"/>
                </a:solidFill>
                <a:highlight>
                  <a:srgbClr val="FFFF00"/>
                </a:highlight>
                <a:latin typeface="Arial"/>
                <a:ea typeface="Arial"/>
                <a:cs typeface="Arial"/>
                <a:sym typeface="Arial"/>
              </a:rPr>
              <a:t>[ </a:t>
            </a:r>
            <a:r>
              <a:rPr lang="en-US" sz="2800" b="1" dirty="0">
                <a:highlight>
                  <a:srgbClr val="FFFF00"/>
                </a:highlight>
              </a:rPr>
              <a:t>Productivity, Literature, Education</a:t>
            </a:r>
            <a:r>
              <a:rPr lang="en-US" sz="2800" b="1" i="0" u="none" strike="noStrike" cap="none" dirty="0">
                <a:solidFill>
                  <a:srgbClr val="000000"/>
                </a:solidFill>
                <a:highlight>
                  <a:srgbClr val="FFFF00"/>
                </a:highlight>
                <a:latin typeface="Arial"/>
                <a:ea typeface="Arial"/>
                <a:cs typeface="Arial"/>
                <a:sym typeface="Arial"/>
              </a:rPr>
              <a:t>]</a:t>
            </a:r>
            <a:endParaRPr sz="28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4" y="546613"/>
            <a:ext cx="9706083"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mj-lt"/>
                <a:ea typeface="Arial"/>
                <a:cs typeface="Arial"/>
                <a:sym typeface="Arial"/>
              </a:rPr>
              <a:t>Project Title – </a:t>
            </a:r>
            <a:r>
              <a:rPr lang="en-US" sz="2800" b="1" i="0" u="none" strike="noStrike" cap="none" dirty="0">
                <a:solidFill>
                  <a:srgbClr val="000000"/>
                </a:solidFill>
                <a:highlight>
                  <a:srgbClr val="FFFF00"/>
                </a:highlight>
                <a:latin typeface="+mj-lt"/>
                <a:ea typeface="Arial"/>
                <a:cs typeface="Arial"/>
                <a:sym typeface="Arial"/>
              </a:rPr>
              <a:t>[</a:t>
            </a:r>
            <a:r>
              <a:rPr lang="en-US" sz="2800" b="1" i="0" u="none" strike="noStrike" cap="none" dirty="0">
                <a:solidFill>
                  <a:schemeClr val="tx1"/>
                </a:solidFill>
                <a:highlight>
                  <a:srgbClr val="FFFF00"/>
                </a:highlight>
                <a:latin typeface="+mj-lt"/>
                <a:ea typeface="Arial"/>
                <a:cs typeface="Arial"/>
                <a:sym typeface="Arial"/>
              </a:rPr>
              <a:t>AI-powered </a:t>
            </a:r>
            <a:r>
              <a:rPr lang="en-US" sz="2800" b="1" i="0" u="none" strike="noStrike" cap="none" dirty="0">
                <a:solidFill>
                  <a:schemeClr val="tx1"/>
                </a:solidFill>
                <a:highlight>
                  <a:srgbClr val="FFFF00"/>
                </a:highlight>
                <a:latin typeface="+mj-lt"/>
                <a:ea typeface="Times New Roman"/>
                <a:cs typeface="Times New Roman"/>
                <a:sym typeface="Times New Roman"/>
              </a:rPr>
              <a:t>Writing assistant agent (Inkwell)</a:t>
            </a:r>
            <a:r>
              <a:rPr lang="en-US" sz="2800" b="1" i="0" u="none" strike="noStrike" cap="none" dirty="0">
                <a:solidFill>
                  <a:schemeClr val="tx1"/>
                </a:solidFill>
                <a:highlight>
                  <a:srgbClr val="FFFF00"/>
                </a:highlight>
                <a:latin typeface="+mj-lt"/>
                <a:ea typeface="Arial"/>
                <a:cs typeface="Arial"/>
                <a:sym typeface="Arial"/>
              </a:rPr>
              <a:t>]</a:t>
            </a:r>
            <a:endParaRPr sz="2800" b="1" i="0" u="none" strike="noStrike" cap="none" dirty="0">
              <a:solidFill>
                <a:schemeClr val="tx1"/>
              </a:solidFill>
              <a:highlight>
                <a:srgbClr val="FFFF00"/>
              </a:highlight>
              <a:latin typeface="+mj-lt"/>
              <a:ea typeface="Arial"/>
              <a:cs typeface="Arial"/>
              <a:sym typeface="Arial"/>
            </a:endParaRPr>
          </a:p>
        </p:txBody>
      </p:sp>
      <p:pic>
        <p:nvPicPr>
          <p:cNvPr id="3" name="Picture 2">
            <a:extLst>
              <a:ext uri="{FF2B5EF4-FFF2-40B4-BE49-F238E27FC236}">
                <a16:creationId xmlns:a16="http://schemas.microsoft.com/office/drawing/2014/main" id="{0B23B428-164C-3DC9-9036-42A3977FB7F8}"/>
              </a:ext>
            </a:extLst>
          </p:cNvPr>
          <p:cNvPicPr>
            <a:picLocks noChangeAspect="1"/>
          </p:cNvPicPr>
          <p:nvPr/>
        </p:nvPicPr>
        <p:blipFill>
          <a:blip r:embed="rId3"/>
          <a:stretch>
            <a:fillRect/>
          </a:stretch>
        </p:blipFill>
        <p:spPr>
          <a:xfrm>
            <a:off x="4178563" y="3699827"/>
            <a:ext cx="855554" cy="9247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792480" y="1168291"/>
            <a:ext cx="10607040" cy="535527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Problem Statement : </a:t>
            </a:r>
            <a:r>
              <a:rPr lang="en-IN" sz="1800" b="1" i="0" u="none" strike="noStrike" cap="none" dirty="0">
                <a:solidFill>
                  <a:srgbClr val="000000"/>
                </a:solidFill>
                <a:latin typeface="Arial"/>
                <a:ea typeface="Arial"/>
                <a:cs typeface="Arial"/>
                <a:sym typeface="Arial"/>
              </a:rPr>
              <a:t>Writing assistant agent</a:t>
            </a:r>
            <a:endParaRPr sz="1800" dirty="0"/>
          </a:p>
          <a:p>
            <a:pPr marL="0" marR="0" lvl="0" indent="0" algn="l" rtl="0">
              <a:lnSpc>
                <a:spcPct val="100000"/>
              </a:lnSpc>
              <a:spcBef>
                <a:spcPts val="0"/>
              </a:spcBef>
              <a:spcAft>
                <a:spcPts val="0"/>
              </a:spcAft>
              <a:buNone/>
            </a:pPr>
            <a:endParaRPr sz="18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The Challenge</a:t>
            </a:r>
            <a:r>
              <a:rPr lang="en-US" sz="1800" b="0" i="0" u="none" strike="noStrike" cap="none" dirty="0">
                <a:solidFill>
                  <a:srgbClr val="000000"/>
                </a:solidFill>
                <a:latin typeface="Arial"/>
                <a:ea typeface="Arial"/>
                <a:cs typeface="Arial"/>
                <a:sym typeface="Arial"/>
              </a:rPr>
              <a:t> </a:t>
            </a:r>
            <a:endParaRPr sz="1800" dirty="0"/>
          </a:p>
          <a:p>
            <a:pPr marL="0" marR="0" lvl="0" indent="0" algn="l" rtl="0">
              <a:lnSpc>
                <a:spcPct val="100000"/>
              </a:lnSpc>
              <a:spcBef>
                <a:spcPts val="0"/>
              </a:spcBef>
              <a:spcAft>
                <a:spcPts val="0"/>
              </a:spcAft>
              <a:buNone/>
            </a:pPr>
            <a:r>
              <a:rPr lang="en-IN" sz="1800" dirty="0"/>
              <a:t>Writing, regardless of whether it is academic or creative, requires lots of research, review and edition. Often times , writers use multiple resources for different steps of the writing process, which can be exhausting, time consuming and cluttered. This agent aims to help writers focus on the writing part more by bringing together multiple resources at the same space.</a:t>
            </a:r>
          </a:p>
          <a:p>
            <a:pPr marL="0" marR="0" lvl="0" indent="0" algn="l" rtl="0">
              <a:lnSpc>
                <a:spcPct val="100000"/>
              </a:lnSpc>
              <a:spcBef>
                <a:spcPts val="0"/>
              </a:spcBef>
              <a:spcAft>
                <a:spcPts val="0"/>
              </a:spcAft>
              <a:buNone/>
            </a:pPr>
            <a:endParaRPr sz="1800" dirty="0"/>
          </a:p>
          <a:p>
            <a:pPr marL="0" marR="0" lvl="0" indent="0" algn="l" rtl="0">
              <a:lnSpc>
                <a:spcPct val="100000"/>
              </a:lnSpc>
              <a:spcBef>
                <a:spcPts val="0"/>
              </a:spcBef>
              <a:spcAft>
                <a:spcPts val="0"/>
              </a:spcAft>
              <a:buNone/>
            </a:pPr>
            <a:r>
              <a:rPr lang="en-US" sz="1800" b="1" i="0" u="none" strike="noStrike" cap="none" dirty="0">
                <a:solidFill>
                  <a:srgbClr val="000000"/>
                </a:solidFill>
                <a:latin typeface="Arial"/>
                <a:ea typeface="Arial"/>
                <a:cs typeface="Arial"/>
                <a:sym typeface="Arial"/>
              </a:rPr>
              <a:t>The objective</a:t>
            </a:r>
            <a:r>
              <a:rPr lang="en-US" sz="1800" b="0" i="0" u="none" strike="noStrike" cap="none" dirty="0">
                <a:solidFill>
                  <a:srgbClr val="000000"/>
                </a:solidFill>
                <a:latin typeface="Arial"/>
                <a:ea typeface="Arial"/>
                <a:cs typeface="Arial"/>
                <a:sym typeface="Arial"/>
              </a:rPr>
              <a:t> </a:t>
            </a:r>
            <a:endParaRPr sz="1800" dirty="0"/>
          </a:p>
          <a:p>
            <a:pPr lvl="0"/>
            <a:r>
              <a:rPr lang="en-US" sz="1800" b="0" i="0" u="none" strike="noStrike" cap="none" dirty="0">
                <a:solidFill>
                  <a:srgbClr val="000000"/>
                </a:solidFill>
                <a:latin typeface="Arial"/>
                <a:ea typeface="Arial"/>
                <a:cs typeface="Arial"/>
                <a:sym typeface="Arial"/>
              </a:rPr>
              <a:t>Build an </a:t>
            </a:r>
            <a:r>
              <a:rPr lang="en-US" sz="1800" b="1" dirty="0">
                <a:solidFill>
                  <a:schemeClr val="tx1"/>
                </a:solidFill>
              </a:rPr>
              <a:t> AI-powered </a:t>
            </a:r>
            <a:r>
              <a:rPr lang="en-US" sz="1800" b="1" dirty="0">
                <a:solidFill>
                  <a:schemeClr val="tx1"/>
                </a:solidFill>
                <a:ea typeface="Times New Roman"/>
                <a:cs typeface="Times New Roman"/>
                <a:sym typeface="Times New Roman"/>
              </a:rPr>
              <a:t>Writing assistant agent </a:t>
            </a:r>
            <a:r>
              <a:rPr lang="en-US" sz="1800" b="0" i="0" u="none" strike="noStrike" cap="none" dirty="0">
                <a:solidFill>
                  <a:srgbClr val="000000"/>
                </a:solidFill>
                <a:latin typeface="Arial"/>
                <a:ea typeface="Arial"/>
                <a:cs typeface="Arial"/>
                <a:sym typeface="Arial"/>
              </a:rPr>
              <a:t>that </a:t>
            </a:r>
            <a:r>
              <a:rPr lang="en-US" sz="1800" dirty="0"/>
              <a:t>offers a variety of tools and chat assistance for writers</a:t>
            </a:r>
            <a:r>
              <a:rPr lang="en-US" sz="1800" b="0" i="0" u="none" strike="noStrike" cap="none" dirty="0">
                <a:solidFill>
                  <a:srgbClr val="000000"/>
                </a:solidFill>
                <a:latin typeface="Arial"/>
                <a:ea typeface="Arial"/>
                <a:cs typeface="Arial"/>
                <a:sym typeface="Arial"/>
              </a:rPr>
              <a:t>: </a:t>
            </a:r>
            <a:endParaRPr sz="1800" dirty="0"/>
          </a:p>
          <a:p>
            <a:pPr lvl="0">
              <a:buSzPts val="1400"/>
            </a:pPr>
            <a:r>
              <a:rPr lang="en-IN" sz="1800" dirty="0"/>
              <a:t>Answering questions related to writing.</a:t>
            </a:r>
            <a:br>
              <a:rPr lang="en-IN" sz="1800" dirty="0"/>
            </a:br>
            <a:r>
              <a:rPr lang="en-IN" sz="1800" dirty="0"/>
              <a:t>Provide alternative words for a given word.</a:t>
            </a:r>
            <a:br>
              <a:rPr lang="en-IN" sz="1800" dirty="0"/>
            </a:br>
            <a:r>
              <a:rPr lang="en-IN" sz="1800" dirty="0"/>
              <a:t>Provides a word for a given description.</a:t>
            </a:r>
            <a:br>
              <a:rPr lang="en-IN" sz="1800" dirty="0"/>
            </a:br>
            <a:r>
              <a:rPr lang="en-IN" sz="1800" dirty="0"/>
              <a:t>Provides the meaning, usage and pronunciation of words.</a:t>
            </a:r>
            <a:br>
              <a:rPr lang="en-IN" sz="1800" dirty="0"/>
            </a:br>
            <a:r>
              <a:rPr lang="en-IN" sz="1800" dirty="0"/>
              <a:t>Has a writing space which allows users to write a draft and download as a word file.</a:t>
            </a:r>
            <a:br>
              <a:rPr lang="en-IN" sz="1800" dirty="0"/>
            </a:br>
            <a:r>
              <a:rPr lang="en-IN" sz="1800" dirty="0"/>
              <a:t>Checks and fixes grammar in the draft.</a:t>
            </a:r>
            <a:br>
              <a:rPr lang="en-IN" sz="1800" dirty="0"/>
            </a:br>
            <a:r>
              <a:rPr lang="en-IN" sz="1800" dirty="0"/>
              <a:t>Provides multiple features in a single space so users do not have to hop between tabs.</a:t>
            </a:r>
            <a:br>
              <a:rPr lang="en-IN" sz="1800" dirty="0"/>
            </a:br>
            <a:r>
              <a:rPr lang="en-IN" sz="1800" dirty="0"/>
              <a:t>Will not write for the users , but will help the users write by providing tools instead.</a:t>
            </a:r>
            <a:endParaRPr sz="18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334437"/>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Problem Statement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397101" y="612340"/>
            <a:ext cx="10607040" cy="64324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r>
              <a:rPr lang="en-IN" sz="1600" dirty="0"/>
              <a:t>The proposed solution is an </a:t>
            </a:r>
            <a:r>
              <a:rPr lang="en-IN" sz="1600" b="1" dirty="0"/>
              <a:t>AI-powered Writing Assistant</a:t>
            </a:r>
            <a:r>
              <a:rPr lang="en-IN" sz="1600" dirty="0"/>
              <a:t> built using </a:t>
            </a:r>
            <a:r>
              <a:rPr lang="en-IN" sz="1600" b="1" dirty="0" err="1"/>
              <a:t>Streamlit</a:t>
            </a:r>
            <a:r>
              <a:rPr lang="en-IN" sz="1600" dirty="0"/>
              <a:t> and </a:t>
            </a:r>
            <a:r>
              <a:rPr lang="en-IN" sz="1600" b="1" dirty="0"/>
              <a:t>IBM watsonx.ai</a:t>
            </a:r>
            <a:r>
              <a:rPr lang="en-IN" sz="1600" dirty="0"/>
              <a:t> with the </a:t>
            </a:r>
            <a:r>
              <a:rPr lang="en-IN" sz="1600" b="1" dirty="0"/>
              <a:t>Llama 3.3 70B Instruct</a:t>
            </a:r>
            <a:r>
              <a:rPr lang="en-IN" sz="1600" dirty="0"/>
              <a:t> model. It helps users improve their writing by checking grammar, improving vocabulary, and answering writing-related questions through an easy-to-use interface.</a:t>
            </a:r>
          </a:p>
          <a:p>
            <a:r>
              <a:rPr lang="en-IN" sz="1600" dirty="0"/>
              <a:t>The system consists of four main modules:</a:t>
            </a:r>
          </a:p>
          <a:p>
            <a:endParaRPr lang="en-IN" sz="1600" dirty="0"/>
          </a:p>
          <a:p>
            <a:r>
              <a:rPr lang="en-IN" sz="1600" b="1" dirty="0"/>
              <a:t>Grammar Assistant</a:t>
            </a:r>
            <a:r>
              <a:rPr lang="en-IN" sz="1600" dirty="0"/>
              <a:t> checks grammar, spelling, and punctuation mistakes, explains the errors, and provides corrected text. </a:t>
            </a:r>
          </a:p>
          <a:p>
            <a:endParaRPr lang="en-IN" sz="1600" dirty="0"/>
          </a:p>
          <a:p>
            <a:r>
              <a:rPr lang="en-IN" sz="1600" b="1" dirty="0"/>
              <a:t>Vocabulary Assistant</a:t>
            </a:r>
            <a:r>
              <a:rPr lang="en-IN" sz="1600" dirty="0"/>
              <a:t> gives word meanings, pronunciations, synonyms, example sentences, and word origins to improve vocabulary. </a:t>
            </a:r>
          </a:p>
          <a:p>
            <a:endParaRPr lang="en-IN" sz="1600" dirty="0"/>
          </a:p>
          <a:p>
            <a:r>
              <a:rPr lang="en-IN" sz="1600" b="1" dirty="0"/>
              <a:t>Writing Guidance Assistant</a:t>
            </a:r>
            <a:r>
              <a:rPr lang="en-IN" sz="1600" dirty="0"/>
              <a:t> answers questions about grammar, sentence structure, writing techniques, and language usage through an AI chat interface.</a:t>
            </a:r>
          </a:p>
          <a:p>
            <a:r>
              <a:rPr lang="en-IN" sz="1600" dirty="0"/>
              <a:t> </a:t>
            </a:r>
          </a:p>
          <a:p>
            <a:r>
              <a:rPr lang="en-IN" sz="1600" b="1" dirty="0"/>
              <a:t>Document drafting feature</a:t>
            </a:r>
            <a:r>
              <a:rPr lang="en-IN" sz="1600" dirty="0"/>
              <a:t> allows users to write, edit, and download their work as a professionally formatted Word document. </a:t>
            </a:r>
          </a:p>
          <a:p>
            <a:endParaRPr lang="en-IN" sz="1600" dirty="0"/>
          </a:p>
          <a:p>
            <a:r>
              <a:rPr lang="en-IN" sz="1600" dirty="0"/>
              <a:t>The application provides a </a:t>
            </a:r>
            <a:r>
              <a:rPr lang="en-IN" sz="1600" b="1" dirty="0"/>
              <a:t>simple </a:t>
            </a:r>
            <a:r>
              <a:rPr lang="en-IN" sz="1600" b="1" dirty="0" err="1"/>
              <a:t>Streamlit</a:t>
            </a:r>
            <a:r>
              <a:rPr lang="en-IN" sz="1600" b="1" dirty="0"/>
              <a:t> dashboard</a:t>
            </a:r>
            <a:r>
              <a:rPr lang="en-IN" sz="1600" dirty="0"/>
              <a:t> where users can write their content, check grammar, learn new words, ask writing-related questions, and save their documents.</a:t>
            </a:r>
          </a:p>
          <a:p>
            <a:r>
              <a:rPr lang="en-IN" sz="1600" b="1" dirty="0"/>
              <a:t>IBM watsonx.ai</a:t>
            </a:r>
            <a:r>
              <a:rPr lang="en-IN" sz="1600" dirty="0"/>
              <a:t> is used to run the AI model, while the </a:t>
            </a:r>
            <a:r>
              <a:rPr lang="en-IN" sz="1600" b="1" dirty="0"/>
              <a:t>Llama 3.3 70B Instruct</a:t>
            </a:r>
            <a:r>
              <a:rPr lang="en-IN" sz="1600" dirty="0"/>
              <a:t> model handles grammar correction, question answering, vocabulary assistance, and writing support.</a:t>
            </a:r>
          </a:p>
          <a:p>
            <a:r>
              <a:rPr lang="en-IN" sz="1600" dirty="0"/>
              <a:t>Overall, the solution provides an intelligent writing assistant that helps users write more accurately, improve their vocabulary, and create better-quality documents with real-time AI assistance.</a:t>
            </a:r>
          </a:p>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76072" y="344164"/>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Proposed Solution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Technology Used</a:t>
            </a:r>
            <a:endParaRPr sz="28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641053" y="715464"/>
            <a:ext cx="10515600" cy="7201931"/>
          </a:xfrm>
          <a:prstGeom prst="rect">
            <a:avLst/>
          </a:prstGeom>
          <a:noFill/>
          <a:ln>
            <a:noFill/>
          </a:ln>
        </p:spPr>
        <p:txBody>
          <a:bodyPr spcFirstLastPara="1" wrap="square" lIns="91425" tIns="45700" rIns="91425" bIns="45700" anchor="t" anchorCtr="0">
            <a:spAutoFit/>
          </a:bodyPr>
          <a:lstStyle/>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L="285750" lvl="0" indent="-285750">
              <a:buSzPts val="1800"/>
              <a:buFont typeface="Arial"/>
              <a:buChar char="•"/>
            </a:pPr>
            <a:r>
              <a:rPr lang="en-IN" sz="2000" b="1" dirty="0"/>
              <a:t>llama-3-3-70b-instruct</a:t>
            </a:r>
            <a:r>
              <a:rPr lang="en-IN" sz="2000" dirty="0"/>
              <a:t> </a:t>
            </a:r>
            <a:r>
              <a:rPr lang="en-US" sz="2000" b="0" i="0" u="none" strike="noStrike" cap="none" dirty="0">
                <a:solidFill>
                  <a:srgbClr val="000000"/>
                </a:solidFill>
                <a:latin typeface="Arial"/>
                <a:ea typeface="Arial"/>
                <a:cs typeface="Arial"/>
                <a:sym typeface="Arial"/>
              </a:rPr>
              <a:t>-  for natural language understanding, reasoning, and personalization</a:t>
            </a:r>
            <a:endParaRPr sz="2000" dirty="0"/>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IBM Cloud </a:t>
            </a:r>
            <a:r>
              <a:rPr lang="en-US" sz="2000" b="0" i="0" u="none" strike="noStrike" cap="none" dirty="0">
                <a:solidFill>
                  <a:srgbClr val="000000"/>
                </a:solidFill>
                <a:latin typeface="Arial"/>
                <a:ea typeface="Arial"/>
                <a:cs typeface="Arial"/>
                <a:sym typeface="Arial"/>
              </a:rPr>
              <a:t>– It provides the infrastructure to build, deploy, and scale the Nutrition Agent efficiently. IBM Cloud enables a </a:t>
            </a:r>
            <a:r>
              <a:rPr lang="en-US" sz="2000" b="1" i="0" u="none" strike="noStrike" cap="none" dirty="0">
                <a:solidFill>
                  <a:srgbClr val="000000"/>
                </a:solidFill>
                <a:latin typeface="Arial"/>
                <a:ea typeface="Arial"/>
                <a:cs typeface="Arial"/>
                <a:sym typeface="Arial"/>
              </a:rPr>
              <a:t>reliable, secure, and scalable environment</a:t>
            </a:r>
            <a:r>
              <a:rPr lang="en-US" sz="2000" b="0" i="0" u="none" strike="noStrike" cap="none" dirty="0">
                <a:solidFill>
                  <a:srgbClr val="000000"/>
                </a:solidFill>
                <a:latin typeface="Arial"/>
                <a:ea typeface="Arial"/>
                <a:cs typeface="Arial"/>
                <a:sym typeface="Arial"/>
              </a:rPr>
              <a:t> for deploying the Nutrition Agent.</a:t>
            </a:r>
            <a:endParaRPr sz="2000" dirty="0"/>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RAG– </a:t>
            </a:r>
            <a:r>
              <a:rPr lang="en-US" sz="2000" b="0" i="0" u="none" strike="noStrike" cap="none" dirty="0">
                <a:solidFill>
                  <a:srgbClr val="000000"/>
                </a:solidFill>
                <a:latin typeface="Arial"/>
                <a:ea typeface="Arial"/>
                <a:cs typeface="Arial"/>
                <a:sym typeface="Arial"/>
              </a:rPr>
              <a:t>RAG to </a:t>
            </a:r>
            <a:r>
              <a:rPr lang="en-US" sz="2000" b="1" i="0" u="none" strike="noStrike" cap="none" dirty="0">
                <a:solidFill>
                  <a:srgbClr val="000000"/>
                </a:solidFill>
                <a:latin typeface="Arial"/>
                <a:ea typeface="Arial"/>
                <a:cs typeface="Arial"/>
                <a:sym typeface="Arial"/>
              </a:rPr>
              <a:t>fetch real data first, then generate intelligent answers</a:t>
            </a:r>
            <a:r>
              <a:rPr lang="en-US" sz="2000" b="0" i="0" u="none" strike="noStrike" cap="none" dirty="0">
                <a:solidFill>
                  <a:srgbClr val="000000"/>
                </a:solidFill>
                <a:latin typeface="Arial"/>
                <a:ea typeface="Arial"/>
                <a:cs typeface="Arial"/>
                <a:sym typeface="Arial"/>
              </a:rPr>
              <a:t>, making the Nutrition Agent more trustworthy and effective.</a:t>
            </a:r>
            <a:endParaRPr sz="2000" dirty="0"/>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2000" b="1" i="0" u="none" strike="noStrike" cap="none" dirty="0">
                <a:solidFill>
                  <a:srgbClr val="000000"/>
                </a:solidFill>
                <a:latin typeface="Arial"/>
                <a:ea typeface="Arial"/>
                <a:cs typeface="Arial"/>
                <a:sym typeface="Arial"/>
              </a:rPr>
              <a:t>IBM Watsonx.ai Studio - </a:t>
            </a:r>
            <a:r>
              <a:rPr lang="en-US" sz="2000" b="0" i="0" u="none" strike="noStrike" cap="none" dirty="0">
                <a:solidFill>
                  <a:srgbClr val="000000"/>
                </a:solidFill>
                <a:latin typeface="Arial"/>
                <a:ea typeface="Arial"/>
                <a:cs typeface="Arial"/>
                <a:sym typeface="Arial"/>
              </a:rPr>
              <a:t>For model deployment, embeddings, and AI governance</a:t>
            </a:r>
          </a:p>
          <a:p>
            <a:pPr marR="0" lvl="0" algn="l" rtl="0">
              <a:lnSpc>
                <a:spcPct val="100000"/>
              </a:lnSpc>
              <a:spcBef>
                <a:spcPts val="0"/>
              </a:spcBef>
              <a:spcAft>
                <a:spcPts val="0"/>
              </a:spcAft>
              <a:buClr>
                <a:srgbClr val="000000"/>
              </a:buClr>
              <a:buSzPts val="1800"/>
            </a:pPr>
            <a:endParaRPr lang="en-US" sz="2000" b="0" i="0" u="none" strike="noStrike" cap="none" dirty="0">
              <a:solidFill>
                <a:srgbClr val="000000"/>
              </a:solidFill>
              <a:latin typeface="Arial"/>
              <a:ea typeface="Arial"/>
              <a:cs typeface="Arial"/>
              <a:sym typeface="Arial"/>
            </a:endParaRPr>
          </a:p>
          <a:p>
            <a:pPr marL="285750" indent="-285750">
              <a:buSzPts val="1800"/>
              <a:buFont typeface="Arial"/>
              <a:buChar char="•"/>
            </a:pPr>
            <a:r>
              <a:rPr lang="en-US" sz="2000" b="1" dirty="0"/>
              <a:t>Watsonx.ai Runtime </a:t>
            </a:r>
            <a:r>
              <a:rPr lang="en-US" sz="2000" dirty="0"/>
              <a:t>– For machine learning and operation of agent.</a:t>
            </a:r>
          </a:p>
          <a:p>
            <a:pPr>
              <a:buSzPts val="1800"/>
            </a:pPr>
            <a:endParaRPr lang="en-US" sz="2000" dirty="0"/>
          </a:p>
          <a:p>
            <a:pPr marL="285750" indent="-285750">
              <a:buSzPts val="1800"/>
              <a:buFont typeface="Arial"/>
              <a:buChar char="•"/>
            </a:pPr>
            <a:r>
              <a:rPr lang="en-US" sz="2000" b="1" dirty="0"/>
              <a:t>IBM Bob </a:t>
            </a:r>
            <a:r>
              <a:rPr lang="en-US" sz="2000" dirty="0"/>
              <a:t>– To build the agentic AI web application and give interface with </a:t>
            </a:r>
            <a:r>
              <a:rPr lang="en-US" sz="2000" dirty="0" err="1"/>
              <a:t>streamlit</a:t>
            </a:r>
            <a:endParaRPr lang="en-US" sz="2000" dirty="0"/>
          </a:p>
          <a:p>
            <a:pPr marL="285750" marR="0" lvl="0" indent="-285750" algn="l" rtl="0">
              <a:lnSpc>
                <a:spcPct val="100000"/>
              </a:lnSpc>
              <a:spcBef>
                <a:spcPts val="0"/>
              </a:spcBef>
              <a:spcAft>
                <a:spcPts val="0"/>
              </a:spcAft>
              <a:buClr>
                <a:srgbClr val="000000"/>
              </a:buClr>
              <a:buSzPts val="1800"/>
              <a:buFont typeface="Arial"/>
              <a:buChar char="•"/>
            </a:pPr>
            <a:endParaRPr sz="2000" dirty="0"/>
          </a:p>
          <a:p>
            <a:pPr marL="285750" marR="0" lvl="0" indent="-17145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Arial"/>
              <a:ea typeface="Arial"/>
              <a:cs typeface="Arial"/>
              <a:sym typeface="Arial"/>
            </a:endParaRPr>
          </a:p>
          <a:p>
            <a:pPr marR="0" lvl="0" algn="l" rtl="0">
              <a:lnSpc>
                <a:spcPct val="100000"/>
              </a:lnSpc>
              <a:spcBef>
                <a:spcPts val="0"/>
              </a:spcBef>
              <a:spcAft>
                <a:spcPts val="0"/>
              </a:spcAft>
              <a:buClr>
                <a:srgbClr val="000000"/>
              </a:buClr>
              <a:buSzPts val="1800"/>
            </a:pPr>
            <a:endParaRPr sz="20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dirty="0">
                <a:solidFill>
                  <a:schemeClr val="dk1"/>
                </a:solidFill>
                <a:latin typeface="Calibri"/>
                <a:ea typeface="Calibri"/>
                <a:cs typeface="Calibri"/>
                <a:sym typeface="Calibri"/>
              </a:rPr>
              <a:t>Architecture blueprint</a:t>
            </a:r>
            <a:endParaRPr sz="2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EE8CCC9D-C127-B260-4B39-9F38B1A3BB1E}"/>
              </a:ext>
            </a:extLst>
          </p:cNvPr>
          <p:cNvPicPr>
            <a:picLocks noChangeAspect="1"/>
          </p:cNvPicPr>
          <p:nvPr/>
        </p:nvPicPr>
        <p:blipFill>
          <a:blip r:embed="rId3"/>
          <a:stretch>
            <a:fillRect/>
          </a:stretch>
        </p:blipFill>
        <p:spPr>
          <a:xfrm>
            <a:off x="541506" y="850201"/>
            <a:ext cx="11108987" cy="56845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Role of Agentic AI in the solution </a:t>
            </a:r>
            <a:endParaRPr sz="28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621792" y="1167493"/>
            <a:ext cx="7406640" cy="4401164"/>
          </a:xfrm>
          <a:prstGeom prst="rect">
            <a:avLst/>
          </a:prstGeom>
          <a:noFill/>
          <a:ln>
            <a:noFill/>
          </a:ln>
        </p:spPr>
        <p:txBody>
          <a:bodyPr spcFirstLastPara="1" wrap="square" lIns="91425" tIns="45700" rIns="91425" bIns="45700" anchor="t" anchorCtr="0">
            <a:spAutoFit/>
          </a:bodyPr>
          <a:lstStyle/>
          <a:p>
            <a:r>
              <a:rPr lang="en-IN" sz="2000" dirty="0"/>
              <a:t>Agentic AI enables the </a:t>
            </a:r>
            <a:r>
              <a:rPr lang="en-IN" sz="2000" b="1" dirty="0"/>
              <a:t>AI Writing Assistant</a:t>
            </a:r>
            <a:r>
              <a:rPr lang="en-IN" sz="2000" dirty="0"/>
              <a:t> to provide intelligent and interactive writing support instead of just basic text correction. Using </a:t>
            </a:r>
            <a:r>
              <a:rPr lang="en-IN" sz="2000" b="1" dirty="0"/>
              <a:t>IBM watsonx.ai</a:t>
            </a:r>
            <a:r>
              <a:rPr lang="en-IN" sz="2000" dirty="0"/>
              <a:t> and the </a:t>
            </a:r>
            <a:r>
              <a:rPr lang="en-IN" sz="2000" b="1" dirty="0"/>
              <a:t>Llama 3.3 70B Instruct</a:t>
            </a:r>
            <a:r>
              <a:rPr lang="en-IN" sz="2000" dirty="0"/>
              <a:t> model, it understands user requests and responds accordingly.</a:t>
            </a:r>
          </a:p>
          <a:p>
            <a:r>
              <a:rPr lang="en-IN" sz="2000" dirty="0"/>
              <a:t>It helps users by </a:t>
            </a:r>
            <a:r>
              <a:rPr lang="en-IN" sz="2000" b="1" dirty="0"/>
              <a:t>checking grammar, explaining mistakes, answering writing-related questions, providing word meanings and synonyms, and suggesting improvements</a:t>
            </a:r>
            <a:r>
              <a:rPr lang="en-IN" sz="2000" dirty="0"/>
              <a:t> based on the context of the text.</a:t>
            </a:r>
          </a:p>
          <a:p>
            <a:r>
              <a:rPr lang="en-IN" sz="2000" dirty="0"/>
              <a:t>The AI also remembers the conversation during a session, allowing it to give more relevant and personalized responses.</a:t>
            </a:r>
          </a:p>
          <a:p>
            <a:r>
              <a:rPr lang="en-IN" sz="2000" dirty="0"/>
              <a:t>Overall, Agentic AI makes the writing assistant </a:t>
            </a:r>
            <a:r>
              <a:rPr lang="en-IN" sz="2000" b="1" dirty="0"/>
              <a:t>smart, interactive, and easy to use</a:t>
            </a:r>
            <a:r>
              <a:rPr lang="en-IN" sz="2000" dirty="0"/>
              <a:t>, helping users write more accurately and confidently.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800" b="1" i="0" u="none" strike="noStrike" cap="none" dirty="0">
                <a:solidFill>
                  <a:srgbClr val="000000"/>
                </a:solidFill>
                <a:latin typeface="Arial"/>
                <a:ea typeface="Arial"/>
                <a:cs typeface="Arial"/>
                <a:sym typeface="Arial"/>
              </a:rPr>
              <a:t>Token Usage </a:t>
            </a:r>
            <a:endParaRPr sz="2800" b="1" i="0" u="none" strike="noStrike" cap="none" dirty="0">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7C3C4D5B-12A1-07FD-E1F1-B1FC16FA67A5}"/>
              </a:ext>
            </a:extLst>
          </p:cNvPr>
          <p:cNvPicPr>
            <a:picLocks noChangeAspect="1"/>
          </p:cNvPicPr>
          <p:nvPr/>
        </p:nvPicPr>
        <p:blipFill>
          <a:blip r:embed="rId3"/>
          <a:stretch>
            <a:fillRect/>
          </a:stretch>
        </p:blipFill>
        <p:spPr>
          <a:xfrm>
            <a:off x="1346173" y="1512376"/>
            <a:ext cx="8740897" cy="261388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482354-34ED-B20C-A008-5E00A3E26749}"/>
              </a:ext>
            </a:extLst>
          </p:cNvPr>
          <p:cNvSpPr txBox="1"/>
          <p:nvPr/>
        </p:nvSpPr>
        <p:spPr>
          <a:xfrm>
            <a:off x="278859" y="282102"/>
            <a:ext cx="11634281" cy="523220"/>
          </a:xfrm>
          <a:prstGeom prst="rect">
            <a:avLst/>
          </a:prstGeom>
          <a:noFill/>
        </p:spPr>
        <p:txBody>
          <a:bodyPr wrap="square" rtlCol="0">
            <a:spAutoFit/>
          </a:bodyPr>
          <a:lstStyle/>
          <a:p>
            <a:r>
              <a:rPr lang="en-IN" sz="2800" b="1" dirty="0"/>
              <a:t>Agent screenshots</a:t>
            </a:r>
          </a:p>
        </p:txBody>
      </p:sp>
      <p:pic>
        <p:nvPicPr>
          <p:cNvPr id="24" name="Picture 23">
            <a:extLst>
              <a:ext uri="{FF2B5EF4-FFF2-40B4-BE49-F238E27FC236}">
                <a16:creationId xmlns:a16="http://schemas.microsoft.com/office/drawing/2014/main" id="{73908DCA-7F30-8D7E-3F7B-11FF6D9F90F3}"/>
              </a:ext>
            </a:extLst>
          </p:cNvPr>
          <p:cNvPicPr>
            <a:picLocks noChangeAspect="1"/>
          </p:cNvPicPr>
          <p:nvPr/>
        </p:nvPicPr>
        <p:blipFill>
          <a:blip r:embed="rId2"/>
          <a:stretch>
            <a:fillRect/>
          </a:stretch>
        </p:blipFill>
        <p:spPr>
          <a:xfrm>
            <a:off x="1708824" y="999518"/>
            <a:ext cx="8066069" cy="5245640"/>
          </a:xfrm>
          <a:prstGeom prst="rect">
            <a:avLst/>
          </a:prstGeom>
        </p:spPr>
      </p:pic>
    </p:spTree>
    <p:extLst>
      <p:ext uri="{BB962C8B-B14F-4D97-AF65-F5344CB8AC3E}">
        <p14:creationId xmlns:p14="http://schemas.microsoft.com/office/powerpoint/2010/main" val="838067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19571-E79C-E072-CD10-2B34B2AB78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D0C2DD0-3645-BA7E-43D6-3C4C99D2B157}"/>
              </a:ext>
            </a:extLst>
          </p:cNvPr>
          <p:cNvSpPr txBox="1"/>
          <p:nvPr/>
        </p:nvSpPr>
        <p:spPr>
          <a:xfrm>
            <a:off x="278859" y="282102"/>
            <a:ext cx="11634281" cy="523220"/>
          </a:xfrm>
          <a:prstGeom prst="rect">
            <a:avLst/>
          </a:prstGeom>
          <a:noFill/>
        </p:spPr>
        <p:txBody>
          <a:bodyPr wrap="square" rtlCol="0">
            <a:spAutoFit/>
          </a:bodyPr>
          <a:lstStyle/>
          <a:p>
            <a:r>
              <a:rPr lang="en-IN" sz="2800" b="1" dirty="0"/>
              <a:t>Agent screenshots</a:t>
            </a:r>
          </a:p>
        </p:txBody>
      </p:sp>
      <p:pic>
        <p:nvPicPr>
          <p:cNvPr id="4" name="Picture 3">
            <a:extLst>
              <a:ext uri="{FF2B5EF4-FFF2-40B4-BE49-F238E27FC236}">
                <a16:creationId xmlns:a16="http://schemas.microsoft.com/office/drawing/2014/main" id="{A71C9555-EB87-861F-49D5-7394E2AEC45A}"/>
              </a:ext>
            </a:extLst>
          </p:cNvPr>
          <p:cNvPicPr>
            <a:picLocks noChangeAspect="1"/>
          </p:cNvPicPr>
          <p:nvPr/>
        </p:nvPicPr>
        <p:blipFill>
          <a:blip r:embed="rId2"/>
          <a:stretch>
            <a:fillRect/>
          </a:stretch>
        </p:blipFill>
        <p:spPr>
          <a:xfrm>
            <a:off x="885218" y="1138135"/>
            <a:ext cx="10196877" cy="4727643"/>
          </a:xfrm>
          <a:prstGeom prst="rect">
            <a:avLst/>
          </a:prstGeom>
        </p:spPr>
      </p:pic>
    </p:spTree>
    <p:extLst>
      <p:ext uri="{BB962C8B-B14F-4D97-AF65-F5344CB8AC3E}">
        <p14:creationId xmlns:p14="http://schemas.microsoft.com/office/powerpoint/2010/main" val="3155012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FC898-DC89-8AB4-969F-F6867A6A7CC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442DF2-247E-B61F-54B3-F76CF8772395}"/>
              </a:ext>
            </a:extLst>
          </p:cNvPr>
          <p:cNvSpPr txBox="1"/>
          <p:nvPr/>
        </p:nvSpPr>
        <p:spPr>
          <a:xfrm>
            <a:off x="278859" y="282102"/>
            <a:ext cx="11634281" cy="523220"/>
          </a:xfrm>
          <a:prstGeom prst="rect">
            <a:avLst/>
          </a:prstGeom>
          <a:noFill/>
        </p:spPr>
        <p:txBody>
          <a:bodyPr wrap="square" rtlCol="0">
            <a:spAutoFit/>
          </a:bodyPr>
          <a:lstStyle/>
          <a:p>
            <a:r>
              <a:rPr lang="en-IN" sz="2800" b="1" dirty="0"/>
              <a:t>Agent screenshots</a:t>
            </a:r>
          </a:p>
        </p:txBody>
      </p:sp>
      <p:pic>
        <p:nvPicPr>
          <p:cNvPr id="4" name="Picture 3">
            <a:extLst>
              <a:ext uri="{FF2B5EF4-FFF2-40B4-BE49-F238E27FC236}">
                <a16:creationId xmlns:a16="http://schemas.microsoft.com/office/drawing/2014/main" id="{E6E8C083-E203-F68A-C68B-C0E78AA174D9}"/>
              </a:ext>
            </a:extLst>
          </p:cNvPr>
          <p:cNvPicPr>
            <a:picLocks noChangeAspect="1"/>
          </p:cNvPicPr>
          <p:nvPr/>
        </p:nvPicPr>
        <p:blipFill>
          <a:blip r:embed="rId2"/>
          <a:stretch>
            <a:fillRect/>
          </a:stretch>
        </p:blipFill>
        <p:spPr>
          <a:xfrm>
            <a:off x="1031133" y="1308369"/>
            <a:ext cx="10185143" cy="4781145"/>
          </a:xfrm>
          <a:prstGeom prst="rect">
            <a:avLst/>
          </a:prstGeom>
        </p:spPr>
      </p:pic>
    </p:spTree>
    <p:extLst>
      <p:ext uri="{BB962C8B-B14F-4D97-AF65-F5344CB8AC3E}">
        <p14:creationId xmlns:p14="http://schemas.microsoft.com/office/powerpoint/2010/main" val="3435984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A059B-AC5F-9165-65BF-7E24A668F11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1BF015-B4EB-CBDB-C1B3-DF1682045729}"/>
              </a:ext>
            </a:extLst>
          </p:cNvPr>
          <p:cNvSpPr txBox="1"/>
          <p:nvPr/>
        </p:nvSpPr>
        <p:spPr>
          <a:xfrm>
            <a:off x="278859" y="282102"/>
            <a:ext cx="11634281" cy="523220"/>
          </a:xfrm>
          <a:prstGeom prst="rect">
            <a:avLst/>
          </a:prstGeom>
          <a:noFill/>
        </p:spPr>
        <p:txBody>
          <a:bodyPr wrap="square" rtlCol="0">
            <a:spAutoFit/>
          </a:bodyPr>
          <a:lstStyle/>
          <a:p>
            <a:r>
              <a:rPr lang="en-IN" sz="2800" b="1" dirty="0"/>
              <a:t>Agent screenshots</a:t>
            </a:r>
          </a:p>
        </p:txBody>
      </p:sp>
      <p:pic>
        <p:nvPicPr>
          <p:cNvPr id="4" name="Picture 3">
            <a:extLst>
              <a:ext uri="{FF2B5EF4-FFF2-40B4-BE49-F238E27FC236}">
                <a16:creationId xmlns:a16="http://schemas.microsoft.com/office/drawing/2014/main" id="{A0FED9BA-78ED-18A2-1621-9DA75814DA67}"/>
              </a:ext>
            </a:extLst>
          </p:cNvPr>
          <p:cNvPicPr>
            <a:picLocks noChangeAspect="1"/>
          </p:cNvPicPr>
          <p:nvPr/>
        </p:nvPicPr>
        <p:blipFill>
          <a:blip r:embed="rId2"/>
          <a:stretch>
            <a:fillRect/>
          </a:stretch>
        </p:blipFill>
        <p:spPr>
          <a:xfrm>
            <a:off x="2187551" y="1057986"/>
            <a:ext cx="8269683" cy="5264993"/>
          </a:xfrm>
          <a:prstGeom prst="rect">
            <a:avLst/>
          </a:prstGeom>
        </p:spPr>
      </p:pic>
    </p:spTree>
    <p:extLst>
      <p:ext uri="{BB962C8B-B14F-4D97-AF65-F5344CB8AC3E}">
        <p14:creationId xmlns:p14="http://schemas.microsoft.com/office/powerpoint/2010/main" val="2765075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31E26-9761-C2C6-AD48-6C7ED16551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13A8CBF-138C-98C0-1F49-1914D72BF278}"/>
              </a:ext>
            </a:extLst>
          </p:cNvPr>
          <p:cNvSpPr txBox="1"/>
          <p:nvPr/>
        </p:nvSpPr>
        <p:spPr>
          <a:xfrm>
            <a:off x="278859" y="282102"/>
            <a:ext cx="11634281" cy="523220"/>
          </a:xfrm>
          <a:prstGeom prst="rect">
            <a:avLst/>
          </a:prstGeom>
          <a:noFill/>
        </p:spPr>
        <p:txBody>
          <a:bodyPr wrap="square" rtlCol="0">
            <a:spAutoFit/>
          </a:bodyPr>
          <a:lstStyle/>
          <a:p>
            <a:r>
              <a:rPr lang="en-IN" sz="2800" b="1" dirty="0"/>
              <a:t>Agent screenshots</a:t>
            </a:r>
          </a:p>
        </p:txBody>
      </p:sp>
      <p:pic>
        <p:nvPicPr>
          <p:cNvPr id="4" name="Picture 3">
            <a:extLst>
              <a:ext uri="{FF2B5EF4-FFF2-40B4-BE49-F238E27FC236}">
                <a16:creationId xmlns:a16="http://schemas.microsoft.com/office/drawing/2014/main" id="{C08736BC-E66A-461A-8F22-4C0BC8B97027}"/>
              </a:ext>
            </a:extLst>
          </p:cNvPr>
          <p:cNvPicPr>
            <a:picLocks noChangeAspect="1"/>
          </p:cNvPicPr>
          <p:nvPr/>
        </p:nvPicPr>
        <p:blipFill>
          <a:blip r:embed="rId2"/>
          <a:stretch>
            <a:fillRect/>
          </a:stretch>
        </p:blipFill>
        <p:spPr>
          <a:xfrm>
            <a:off x="1243968" y="1138136"/>
            <a:ext cx="9145173" cy="5204298"/>
          </a:xfrm>
          <a:prstGeom prst="rect">
            <a:avLst/>
          </a:prstGeom>
        </p:spPr>
      </p:pic>
    </p:spTree>
    <p:extLst>
      <p:ext uri="{BB962C8B-B14F-4D97-AF65-F5344CB8AC3E}">
        <p14:creationId xmlns:p14="http://schemas.microsoft.com/office/powerpoint/2010/main" val="3386994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9A23B-0CD8-412B-5820-D42E1505B2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ED5124-2594-DBB6-0C4B-4F3E233E007C}"/>
              </a:ext>
            </a:extLst>
          </p:cNvPr>
          <p:cNvSpPr txBox="1"/>
          <p:nvPr/>
        </p:nvSpPr>
        <p:spPr>
          <a:xfrm>
            <a:off x="278859" y="282102"/>
            <a:ext cx="11634281" cy="523220"/>
          </a:xfrm>
          <a:prstGeom prst="rect">
            <a:avLst/>
          </a:prstGeom>
          <a:noFill/>
        </p:spPr>
        <p:txBody>
          <a:bodyPr wrap="square" rtlCol="0">
            <a:spAutoFit/>
          </a:bodyPr>
          <a:lstStyle/>
          <a:p>
            <a:r>
              <a:rPr lang="en-IN" sz="2800" b="1" dirty="0"/>
              <a:t>Agent screenshots</a:t>
            </a:r>
          </a:p>
        </p:txBody>
      </p:sp>
      <p:pic>
        <p:nvPicPr>
          <p:cNvPr id="14" name="Picture 13">
            <a:extLst>
              <a:ext uri="{FF2B5EF4-FFF2-40B4-BE49-F238E27FC236}">
                <a16:creationId xmlns:a16="http://schemas.microsoft.com/office/drawing/2014/main" id="{5A6222C5-6BAA-A822-686F-D84D43FA1BED}"/>
              </a:ext>
            </a:extLst>
          </p:cNvPr>
          <p:cNvPicPr>
            <a:picLocks noChangeAspect="1"/>
          </p:cNvPicPr>
          <p:nvPr/>
        </p:nvPicPr>
        <p:blipFill>
          <a:blip r:embed="rId2"/>
          <a:stretch>
            <a:fillRect/>
          </a:stretch>
        </p:blipFill>
        <p:spPr>
          <a:xfrm>
            <a:off x="2331172" y="988056"/>
            <a:ext cx="7386760" cy="5091732"/>
          </a:xfrm>
          <a:prstGeom prst="rect">
            <a:avLst/>
          </a:prstGeom>
        </p:spPr>
      </p:pic>
    </p:spTree>
    <p:extLst>
      <p:ext uri="{BB962C8B-B14F-4D97-AF65-F5344CB8AC3E}">
        <p14:creationId xmlns:p14="http://schemas.microsoft.com/office/powerpoint/2010/main" val="41323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F9CFCE6-877F-4858-B8BD-2C52CA8AFB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83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213F8A0-12AE-4514-8372-0DD766EC2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80060"/>
            <a:ext cx="545812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9772332-9E1D-9613-DD0C-01D4711B75ED}"/>
              </a:ext>
            </a:extLst>
          </p:cNvPr>
          <p:cNvPicPr>
            <a:picLocks noChangeAspect="1"/>
          </p:cNvPicPr>
          <p:nvPr/>
        </p:nvPicPr>
        <p:blipFill>
          <a:blip r:embed="rId2"/>
          <a:stretch>
            <a:fillRect/>
          </a:stretch>
        </p:blipFill>
        <p:spPr>
          <a:xfrm>
            <a:off x="6421035" y="1167320"/>
            <a:ext cx="5129784" cy="3885811"/>
          </a:xfrm>
          <a:prstGeom prst="rect">
            <a:avLst/>
          </a:prstGeom>
        </p:spPr>
      </p:pic>
      <p:sp>
        <p:nvSpPr>
          <p:cNvPr id="18" name="Rectangle 17">
            <a:extLst>
              <a:ext uri="{FF2B5EF4-FFF2-40B4-BE49-F238E27FC236}">
                <a16:creationId xmlns:a16="http://schemas.microsoft.com/office/drawing/2014/main" id="{9EFF17D4-9A8C-4CE5-B096-D8CCD4400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5458121"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16AE9CA-588D-BDEE-CA9F-C9EAC65474AB}"/>
              </a:ext>
            </a:extLst>
          </p:cNvPr>
          <p:cNvPicPr>
            <a:picLocks noChangeAspect="1"/>
          </p:cNvPicPr>
          <p:nvPr/>
        </p:nvPicPr>
        <p:blipFill>
          <a:blip r:embed="rId3"/>
          <a:stretch>
            <a:fillRect/>
          </a:stretch>
        </p:blipFill>
        <p:spPr>
          <a:xfrm>
            <a:off x="641181" y="1167320"/>
            <a:ext cx="4816037" cy="4064050"/>
          </a:xfrm>
          <a:prstGeom prst="rect">
            <a:avLst/>
          </a:prstGeom>
        </p:spPr>
      </p:pic>
    </p:spTree>
    <p:extLst>
      <p:ext uri="{BB962C8B-B14F-4D97-AF65-F5344CB8AC3E}">
        <p14:creationId xmlns:p14="http://schemas.microsoft.com/office/powerpoint/2010/main" val="1014323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192802"/>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Novelty and Uniqueness</a:t>
            </a:r>
            <a:endParaRPr sz="28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777240" y="866540"/>
            <a:ext cx="10623577" cy="5724604"/>
          </a:xfrm>
          <a:prstGeom prst="rect">
            <a:avLst/>
          </a:prstGeom>
          <a:noFill/>
          <a:ln>
            <a:noFill/>
          </a:ln>
        </p:spPr>
        <p:txBody>
          <a:bodyPr spcFirstLastPara="1" wrap="square" lIns="91425" tIns="45700" rIns="91425" bIns="45700" anchor="t" anchorCtr="0">
            <a:spAutoFit/>
          </a:bodyPr>
          <a:lstStyle/>
          <a:p>
            <a:r>
              <a:rPr lang="en-IN" sz="1600" dirty="0"/>
              <a:t>The proposed </a:t>
            </a:r>
            <a:r>
              <a:rPr lang="en-IN" sz="1600" b="1" dirty="0"/>
              <a:t>AI Writing Assistant</a:t>
            </a:r>
            <a:r>
              <a:rPr lang="en-IN" sz="1600" dirty="0"/>
              <a:t> stands out by combining intelligent writing support, vocabulary assistance, and document management into a single easy-to-use application.</a:t>
            </a:r>
          </a:p>
          <a:p>
            <a:endParaRPr lang="en-IN" sz="1600" dirty="0"/>
          </a:p>
          <a:p>
            <a:r>
              <a:rPr lang="en-IN" sz="1600" b="1" dirty="0"/>
              <a:t>All-in-One Writing Tool</a:t>
            </a:r>
            <a:r>
              <a:rPr lang="en-IN" sz="1600" dirty="0"/>
              <a:t> – Combines grammar checking, vocabulary assistance, writing guidance, and document export in one platform. </a:t>
            </a:r>
          </a:p>
          <a:p>
            <a:endParaRPr lang="en-IN" sz="1600" dirty="0"/>
          </a:p>
          <a:p>
            <a:r>
              <a:rPr lang="en-IN" sz="1600" b="1" dirty="0"/>
              <a:t>Context-Aware Responses</a:t>
            </a:r>
            <a:r>
              <a:rPr lang="en-IN" sz="1600" dirty="0"/>
              <a:t> – Understands the user's input and provides relevant corrections and suggestions instead of simple rule-based feedback. </a:t>
            </a:r>
          </a:p>
          <a:p>
            <a:endParaRPr lang="en-IN" sz="1600" dirty="0"/>
          </a:p>
          <a:p>
            <a:r>
              <a:rPr lang="en-IN" sz="1600" b="1" dirty="0"/>
              <a:t>Interactive AI Chat</a:t>
            </a:r>
            <a:r>
              <a:rPr lang="en-IN" sz="1600" dirty="0"/>
              <a:t> – Allows users to ask writing-related questions and receive instant explanations and guidance. </a:t>
            </a:r>
          </a:p>
          <a:p>
            <a:endParaRPr lang="en-IN" sz="1600" dirty="0"/>
          </a:p>
          <a:p>
            <a:r>
              <a:rPr lang="en-IN" sz="1600" b="1" dirty="0"/>
              <a:t>Vocabulary Enhancement</a:t>
            </a:r>
            <a:r>
              <a:rPr lang="en-IN" sz="1600" dirty="0"/>
              <a:t> – Provides definitions, synonyms, pronunciations, example sentences, and word origins to improve language skills. </a:t>
            </a:r>
          </a:p>
          <a:p>
            <a:endParaRPr lang="en-IN" sz="1600" dirty="0"/>
          </a:p>
          <a:p>
            <a:r>
              <a:rPr lang="en-IN" sz="1600" b="1" dirty="0"/>
              <a:t>Easy Document Management</a:t>
            </a:r>
            <a:r>
              <a:rPr lang="en-IN" sz="1600" dirty="0"/>
              <a:t> – Enables users to write, edit, correct, and download their work as a professionally formatted Word document. </a:t>
            </a:r>
          </a:p>
          <a:p>
            <a:endParaRPr lang="en-IN" sz="1600" dirty="0"/>
          </a:p>
          <a:p>
            <a:r>
              <a:rPr lang="en-IN" sz="1600" b="1" dirty="0"/>
              <a:t>Powered by IBM watsonx.ai</a:t>
            </a:r>
            <a:r>
              <a:rPr lang="en-IN" sz="1600" dirty="0"/>
              <a:t> – Uses the </a:t>
            </a:r>
            <a:r>
              <a:rPr lang="en-IN" sz="1600" b="1" dirty="0"/>
              <a:t>Llama 3.3 70B Instruct</a:t>
            </a:r>
            <a:r>
              <a:rPr lang="en-IN" sz="1600" dirty="0"/>
              <a:t> model to deliver accurate and reliable writing assistance. </a:t>
            </a:r>
          </a:p>
          <a:p>
            <a:endParaRPr lang="en-IN" sz="1600" dirty="0"/>
          </a:p>
          <a:p>
            <a:r>
              <a:rPr lang="en-IN" sz="1600" dirty="0"/>
              <a:t>This makes the solution an </a:t>
            </a:r>
            <a:r>
              <a:rPr lang="en-IN" sz="1600" b="1" dirty="0"/>
              <a:t>intelligent writing companion</a:t>
            </a:r>
            <a:r>
              <a:rPr lang="en-IN" sz="1600" dirty="0"/>
              <a:t>, helping users improve their writing skills instead of simply correcting mistakes.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Git Hub Link</a:t>
            </a:r>
            <a:endParaRPr sz="2800" b="1" i="0" u="none" strike="noStrike" cap="none" dirty="0">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0" i="0" u="none" strike="noStrike" cap="none" dirty="0" err="1">
                <a:solidFill>
                  <a:srgbClr val="2B3541"/>
                </a:solidFill>
                <a:latin typeface="+mj-lt"/>
                <a:ea typeface="Times New Roman"/>
                <a:cs typeface="Times New Roman"/>
                <a:sym typeface="Times New Roman"/>
              </a:rPr>
              <a:t>Github</a:t>
            </a:r>
            <a:r>
              <a:rPr lang="en-US" sz="2000" b="0" i="0" u="none" strike="noStrike" cap="none" dirty="0">
                <a:solidFill>
                  <a:srgbClr val="2B3541"/>
                </a:solidFill>
                <a:latin typeface="+mj-lt"/>
                <a:ea typeface="Times New Roman"/>
                <a:cs typeface="Times New Roman"/>
                <a:sym typeface="Times New Roman"/>
              </a:rPr>
              <a:t> URL:  </a:t>
            </a:r>
            <a:r>
              <a:rPr lang="en-US" sz="2000" dirty="0">
                <a:solidFill>
                  <a:srgbClr val="2B3541"/>
                </a:solidFill>
                <a:latin typeface="+mj-lt"/>
                <a:ea typeface="Times New Roman"/>
                <a:cs typeface="Times New Roman"/>
                <a:sym typeface="Times New Roman"/>
              </a:rPr>
              <a:t>https://github.com/has2k24/writing_assistant_agent</a:t>
            </a:r>
            <a:endParaRPr sz="2000" dirty="0">
              <a:latin typeface="+mj-lt"/>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Please  add your credly certificate </a:t>
            </a:r>
            <a:endParaRPr/>
          </a:p>
        </p:txBody>
      </p:sp>
      <p:pic>
        <p:nvPicPr>
          <p:cNvPr id="3" name="Picture 2">
            <a:extLst>
              <a:ext uri="{FF2B5EF4-FFF2-40B4-BE49-F238E27FC236}">
                <a16:creationId xmlns:a16="http://schemas.microsoft.com/office/drawing/2014/main" id="{927498EE-6882-F3CC-B41D-4F739DF88B5B}"/>
              </a:ext>
            </a:extLst>
          </p:cNvPr>
          <p:cNvPicPr>
            <a:picLocks noChangeAspect="1"/>
          </p:cNvPicPr>
          <p:nvPr/>
        </p:nvPicPr>
        <p:blipFill>
          <a:blip r:embed="rId3"/>
          <a:stretch>
            <a:fillRect/>
          </a:stretch>
        </p:blipFill>
        <p:spPr>
          <a:xfrm>
            <a:off x="2204668" y="1482792"/>
            <a:ext cx="6754506" cy="497291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Add your IBM BOB Certificate</a:t>
            </a:r>
            <a:endParaRPr/>
          </a:p>
        </p:txBody>
      </p:sp>
      <p:pic>
        <p:nvPicPr>
          <p:cNvPr id="3" name="Picture 2">
            <a:extLst>
              <a:ext uri="{FF2B5EF4-FFF2-40B4-BE49-F238E27FC236}">
                <a16:creationId xmlns:a16="http://schemas.microsoft.com/office/drawing/2014/main" id="{E8123A5F-F685-3E97-797E-09A3BF516049}"/>
              </a:ext>
            </a:extLst>
          </p:cNvPr>
          <p:cNvPicPr>
            <a:picLocks noChangeAspect="1"/>
          </p:cNvPicPr>
          <p:nvPr/>
        </p:nvPicPr>
        <p:blipFill>
          <a:blip r:embed="rId3"/>
          <a:stretch>
            <a:fillRect/>
          </a:stretch>
        </p:blipFill>
        <p:spPr>
          <a:xfrm>
            <a:off x="1877438" y="1477578"/>
            <a:ext cx="7889768" cy="487153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951</Words>
  <Application>Microsoft Office PowerPoint</Application>
  <PresentationFormat>Widescreen</PresentationFormat>
  <Paragraphs>96</Paragraphs>
  <Slides>20</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A.S. Hamsadhwani</cp:lastModifiedBy>
  <cp:revision>2</cp:revision>
  <dcterms:created xsi:type="dcterms:W3CDTF">2025-07-08T05:06:56Z</dcterms:created>
  <dcterms:modified xsi:type="dcterms:W3CDTF">2026-07-12T16:51:01Z</dcterms:modified>
</cp:coreProperties>
</file>